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6B8E23"/>
                </a:solidFill>
                <a:latin typeface="Calibri"/>
              </a:defRPr>
            </a:pPr>
            <a:r>
              <a:t>TROOMS HOUSE FARM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FFFF"/>
                </a:solidFill>
                <a:latin typeface="Calibri"/>
              </a:defRPr>
            </a:pPr>
            <a:r>
              <a:t>Farm Management ERP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CA38F"/>
                </a:solidFill>
                <a:latin typeface="Calibri"/>
              </a:defRPr>
            </a:pPr>
            <a:r>
              <a:t>System Overview &amp;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12191695" cy="36576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5669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8F"/>
                </a:solidFill>
                <a:latin typeface="Calibri"/>
              </a:defRPr>
            </a:pPr>
            <a:r>
              <a:t>Laravel 13  •  PHP 8.3  •  Blade  •  SQLite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B8E23"/>
                </a:solidFill>
                <a:latin typeface="Calibri"/>
              </a:defRPr>
            </a:pPr>
            <a:r>
              <a:t>What is Trooms?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3657600" cy="36576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D6DECC"/>
                </a:solidFill>
                <a:latin typeface="Calibri"/>
              </a:defRPr>
            </a:pPr>
            <a:r>
              <a:t>• Full-stack farm management ERP for Kenyan export horticulture</a:t>
            </a:r>
          </a:p>
          <a:p>
            <a:pPr>
              <a:spcAft>
                <a:spcPts val="1000"/>
              </a:spcAft>
              <a:defRPr sz="2000">
                <a:solidFill>
                  <a:srgbClr val="D6DECC"/>
                </a:solidFill>
                <a:latin typeface="Calibri"/>
              </a:defRPr>
            </a:pPr>
            <a:r>
              <a:t>• Tracks every stage: land prep → planting → field ops → harvest → packhouse → sales</a:t>
            </a:r>
          </a:p>
          <a:p>
            <a:pPr>
              <a:spcAft>
                <a:spcPts val="1000"/>
              </a:spcAft>
              <a:defRPr sz="2000">
                <a:solidFill>
                  <a:srgbClr val="D6DECC"/>
                </a:solidFill>
                <a:latin typeface="Calibri"/>
              </a:defRPr>
            </a:pPr>
            <a:r>
              <a:t>• Role-based access for 12 distinct farm roles</a:t>
            </a:r>
          </a:p>
          <a:p>
            <a:pPr>
              <a:spcAft>
                <a:spcPts val="1000"/>
              </a:spcAft>
              <a:defRPr sz="2000">
                <a:solidFill>
                  <a:srgbClr val="D6DECC"/>
                </a:solidFill>
                <a:latin typeface="Calibri"/>
              </a:defRPr>
            </a:pPr>
            <a:r>
              <a:t>• WhatsApp integration for field data capture</a:t>
            </a:r>
          </a:p>
          <a:p>
            <a:pPr>
              <a:spcAft>
                <a:spcPts val="1000"/>
              </a:spcAft>
              <a:defRPr sz="2000">
                <a:solidFill>
                  <a:srgbClr val="D6DECC"/>
                </a:solidFill>
                <a:latin typeface="Calibri"/>
              </a:defRPr>
            </a:pPr>
            <a:r>
              <a:t>• M-Pesa payment processing</a:t>
            </a:r>
          </a:p>
          <a:p>
            <a:pPr>
              <a:spcAft>
                <a:spcPts val="1000"/>
              </a:spcAft>
              <a:defRPr sz="2000">
                <a:solidFill>
                  <a:srgbClr val="D6DECC"/>
                </a:solidFill>
                <a:latin typeface="Calibri"/>
              </a:defRPr>
            </a:pPr>
            <a:r>
              <a:t>• AI-assisted reporting and analytics</a:t>
            </a:r>
          </a:p>
          <a:p>
            <a:pPr>
              <a:spcAft>
                <a:spcPts val="1000"/>
              </a:spcAft>
              <a:defRPr sz="2000">
                <a:solidFill>
                  <a:srgbClr val="D6DECC"/>
                </a:solidFill>
                <a:latin typeface="Calibri"/>
              </a:defRPr>
            </a:pPr>
            <a:r>
              <a:t>• Curated planting planner with agronomic source verification</a:t>
            </a:r>
          </a:p>
          <a:p>
            <a:pPr>
              <a:spcAft>
                <a:spcPts val="1000"/>
              </a:spcAft>
              <a:defRPr sz="2000">
                <a:solidFill>
                  <a:srgbClr val="D6DECC"/>
                </a:solidFill>
                <a:latin typeface="Calibri"/>
              </a:defRPr>
            </a:pPr>
            <a:r>
              <a:t>• Built with zero external PHP dependencies beyond Laravel core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B8E23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3657600" cy="36576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515600" cy="457200"/>
          </a:xfrm>
          <a:prstGeom prst="roundRect">
            <a:avLst/>
          </a:prstGeom>
          <a:solidFill>
            <a:srgbClr val="24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54864" cy="365760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08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B8E23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50876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6DECC"/>
                </a:solidFill>
                <a:latin typeface="Calibri"/>
              </a:defRPr>
            </a:pPr>
            <a:r>
              <a:t>Laravel 13, PHP 8.3, Eloquent 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10515600" cy="457200"/>
          </a:xfrm>
          <a:prstGeom prst="roundRect">
            <a:avLst/>
          </a:prstGeom>
          <a:solidFill>
            <a:srgbClr val="24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057400"/>
            <a:ext cx="54864" cy="365760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057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B8E23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0574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6DECC"/>
                </a:solidFill>
                <a:latin typeface="Calibri"/>
              </a:defRPr>
            </a:pPr>
            <a:r>
              <a:t>SQLite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560320"/>
            <a:ext cx="10515600" cy="457200"/>
          </a:xfrm>
          <a:prstGeom prst="roundRect">
            <a:avLst/>
          </a:prstGeom>
          <a:solidFill>
            <a:srgbClr val="24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606039"/>
            <a:ext cx="54864" cy="365760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6060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B8E23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606039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6DECC"/>
                </a:solidFill>
                <a:latin typeface="Calibri"/>
              </a:defRPr>
            </a:pPr>
            <a:r>
              <a:t>Blade templates, Vanilla CSS design system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108960"/>
            <a:ext cx="10515600" cy="457200"/>
          </a:xfrm>
          <a:prstGeom prst="roundRect">
            <a:avLst/>
          </a:prstGeom>
          <a:solidFill>
            <a:srgbClr val="24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154679"/>
            <a:ext cx="54864" cy="365760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15467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B8E23"/>
                </a:solidFill>
                <a:latin typeface="Calibri"/>
              </a:defRPr>
            </a:pPr>
            <a:r>
              <a:t>Build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3154679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6DECC"/>
                </a:solidFill>
                <a:latin typeface="Calibri"/>
              </a:defRPr>
            </a:pPr>
            <a:r>
              <a:t>Vite asset bundling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657600"/>
            <a:ext cx="10515600" cy="457200"/>
          </a:xfrm>
          <a:prstGeom prst="roundRect">
            <a:avLst/>
          </a:prstGeom>
          <a:solidFill>
            <a:srgbClr val="24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703320"/>
            <a:ext cx="54864" cy="365760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703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B8E23"/>
                </a:solidFill>
                <a:latin typeface="Calibri"/>
              </a:defRPr>
            </a:pPr>
            <a:r>
              <a:t>Payments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37033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6DECC"/>
                </a:solidFill>
                <a:latin typeface="Calibri"/>
              </a:defRPr>
            </a:pPr>
            <a:r>
              <a:t>M-Pesa C2B integration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206240"/>
            <a:ext cx="10515600" cy="457200"/>
          </a:xfrm>
          <a:prstGeom prst="roundRect">
            <a:avLst/>
          </a:prstGeom>
          <a:solidFill>
            <a:srgbClr val="24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4251959"/>
            <a:ext cx="54864" cy="365760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25195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B8E23"/>
                </a:solidFill>
                <a:latin typeface="Calibri"/>
              </a:defRPr>
            </a:pPr>
            <a:r>
              <a:t>Messaging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4251959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6DECC"/>
                </a:solidFill>
                <a:latin typeface="Calibri"/>
              </a:defRPr>
            </a:pPr>
            <a:r>
              <a:t>WhatsApp Business API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754879"/>
            <a:ext cx="10515600" cy="457200"/>
          </a:xfrm>
          <a:prstGeom prst="roundRect">
            <a:avLst/>
          </a:prstGeom>
          <a:solidFill>
            <a:srgbClr val="24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4800599"/>
            <a:ext cx="54864" cy="365760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480059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B8E23"/>
                </a:solidFill>
                <a:latin typeface="Calibri"/>
              </a:defRPr>
            </a:pPr>
            <a:r>
              <a:t>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40" y="4800599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6DECC"/>
                </a:solidFill>
                <a:latin typeface="Calibri"/>
              </a:defRPr>
            </a:pPr>
            <a:r>
              <a:t>AI report generation service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303520"/>
            <a:ext cx="10515600" cy="457200"/>
          </a:xfrm>
          <a:prstGeom prst="roundRect">
            <a:avLst/>
          </a:prstGeom>
          <a:solidFill>
            <a:srgbClr val="24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1520" y="5349240"/>
            <a:ext cx="54864" cy="365760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5349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B8E23"/>
                </a:solidFill>
                <a:latin typeface="Calibri"/>
              </a:defRPr>
            </a:pPr>
            <a:r>
              <a:t>Hosting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91840" y="53492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6DECC"/>
                </a:solidFill>
                <a:latin typeface="Calibri"/>
              </a:defRPr>
            </a:pPr>
            <a:r>
              <a:t>Vercel (serverless PHP)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5852160"/>
            <a:ext cx="10515600" cy="457200"/>
          </a:xfrm>
          <a:prstGeom prst="roundRect">
            <a:avLst/>
          </a:prstGeom>
          <a:solidFill>
            <a:srgbClr val="24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5897880"/>
            <a:ext cx="54864" cy="365760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897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B8E23"/>
                </a:solidFill>
                <a:latin typeface="Calibri"/>
              </a:defRPr>
            </a:pPr>
            <a:r>
              <a:t>Auth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91840" y="58978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6DECC"/>
                </a:solidFill>
                <a:latin typeface="Calibri"/>
              </a:defRPr>
            </a:pPr>
            <a:r>
              <a:t>Laravel built-in, role-based module access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B8E23"/>
                </a:solidFill>
                <a:latin typeface="Calibri"/>
              </a:defRPr>
            </a:pPr>
            <a:r>
              <a:t>🌿  Farm Operations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3657600" cy="36576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515600" cy="594360"/>
          </a:xfrm>
          <a:prstGeom prst="roundRect">
            <a:avLst/>
          </a:prstGeom>
          <a:solidFill>
            <a:srgbClr val="24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81328"/>
            <a:ext cx="54864" cy="365760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447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Farms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444752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CA38F"/>
                </a:solidFill>
                <a:latin typeface="Calibri"/>
              </a:defRPr>
            </a:pPr>
            <a:r>
              <a:t>Farm locations (e.g. Trooms Naivasha)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57400"/>
            <a:ext cx="10515600" cy="594360"/>
          </a:xfrm>
          <a:prstGeom prst="roundRect">
            <a:avLst/>
          </a:prstGeom>
          <a:solidFill>
            <a:srgbClr val="24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167128"/>
            <a:ext cx="54864" cy="365760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305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Blocks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130552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CA38F"/>
                </a:solidFill>
                <a:latin typeface="Calibri"/>
              </a:defRPr>
            </a:pPr>
            <a:r>
              <a:t>Sub-divisions — fields, greenhouses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743200"/>
            <a:ext cx="10515600" cy="594360"/>
          </a:xfrm>
          <a:prstGeom prst="roundRect">
            <a:avLst/>
          </a:prstGeom>
          <a:solidFill>
            <a:srgbClr val="24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852928"/>
            <a:ext cx="54864" cy="365760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8163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Crops &amp; Cycles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816352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CA38F"/>
                </a:solidFill>
                <a:latin typeface="Calibri"/>
              </a:defRPr>
            </a:pPr>
            <a:r>
              <a:t>Crop definitions, planting cycles (planned → active → completed)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429000"/>
            <a:ext cx="10515600" cy="594360"/>
          </a:xfrm>
          <a:prstGeom prst="roundRect">
            <a:avLst/>
          </a:prstGeom>
          <a:solidFill>
            <a:srgbClr val="24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538728"/>
            <a:ext cx="54864" cy="365760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5021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Set Up Planting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3502152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CA38F"/>
                </a:solidFill>
                <a:latin typeface="Calibri"/>
              </a:defRPr>
            </a:pPr>
            <a:r>
              <a:t>Land preparation checklists and expense tracking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114800"/>
            <a:ext cx="10515600" cy="594360"/>
          </a:xfrm>
          <a:prstGeom prst="roundRect">
            <a:avLst/>
          </a:prstGeom>
          <a:solidFill>
            <a:srgbClr val="24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224528"/>
            <a:ext cx="54864" cy="365760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1879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Planting Planner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4187952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CA38F"/>
                </a:solidFill>
                <a:latin typeface="Calibri"/>
              </a:defRPr>
            </a:pPr>
            <a:r>
              <a:t>Dated task schedule per crop, printable as PDF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800600"/>
            <a:ext cx="10515600" cy="594360"/>
          </a:xfrm>
          <a:prstGeom prst="roundRect">
            <a:avLst/>
          </a:prstGeom>
          <a:solidFill>
            <a:srgbClr val="24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4910328"/>
            <a:ext cx="54864" cy="365760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8737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Assets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4873752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CA38F"/>
                </a:solidFill>
                <a:latin typeface="Calibri"/>
              </a:defRPr>
            </a:pPr>
            <a:r>
              <a:t>Farm equipment tracking with status history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486400"/>
            <a:ext cx="10515600" cy="594360"/>
          </a:xfrm>
          <a:prstGeom prst="roundRect">
            <a:avLst/>
          </a:prstGeom>
          <a:solidFill>
            <a:srgbClr val="24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5596128"/>
            <a:ext cx="54864" cy="365760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55595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Checkouts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5559552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CA38F"/>
                </a:solidFill>
                <a:latin typeface="Calibri"/>
              </a:defRPr>
            </a:pPr>
            <a:r>
              <a:t>Equipment checkout/return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B8E23"/>
                </a:solidFill>
                <a:latin typeface="Calibri"/>
              </a:defRPr>
            </a:pPr>
            <a:r>
              <a:t>🔧  Field Operations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3657600" cy="36576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515600" cy="475488"/>
          </a:xfrm>
          <a:prstGeom prst="roundRect">
            <a:avLst/>
          </a:prstGeom>
          <a:solidFill>
            <a:srgbClr val="24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54864" cy="329184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Nursery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417320"/>
            <a:ext cx="7132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8F"/>
                </a:solidFill>
                <a:latin typeface="Calibri"/>
              </a:defRPr>
            </a:pPr>
            <a:r>
              <a:t>Seedling batches — sow to transplant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38528"/>
            <a:ext cx="10515600" cy="475488"/>
          </a:xfrm>
          <a:prstGeom prst="roundRect">
            <a:avLst/>
          </a:prstGeom>
          <a:solidFill>
            <a:srgbClr val="24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011680"/>
            <a:ext cx="54864" cy="329184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98424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Daily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984248"/>
            <a:ext cx="7132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8F"/>
                </a:solidFill>
                <a:latin typeface="Calibri"/>
              </a:defRPr>
            </a:pPr>
            <a:r>
              <a:t>General daily field activity log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505456"/>
            <a:ext cx="10515600" cy="475488"/>
          </a:xfrm>
          <a:prstGeom prst="roundRect">
            <a:avLst/>
          </a:prstGeom>
          <a:solidFill>
            <a:srgbClr val="24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578608"/>
            <a:ext cx="54864" cy="329184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55117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WhatsApp Inbox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551176"/>
            <a:ext cx="7132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8F"/>
                </a:solidFill>
                <a:latin typeface="Calibri"/>
              </a:defRPr>
            </a:pPr>
            <a:r>
              <a:t>Inbound WhatsApp messages as ops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072384"/>
            <a:ext cx="10515600" cy="475488"/>
          </a:xfrm>
          <a:prstGeom prst="roundRect">
            <a:avLst/>
          </a:prstGeom>
          <a:solidFill>
            <a:srgbClr val="24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145536"/>
            <a:ext cx="54864" cy="329184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118103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Irrigation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3118103"/>
            <a:ext cx="7132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8F"/>
                </a:solidFill>
                <a:latin typeface="Calibri"/>
              </a:defRPr>
            </a:pPr>
            <a:r>
              <a:t>Water application records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639312"/>
            <a:ext cx="10515600" cy="475488"/>
          </a:xfrm>
          <a:prstGeom prst="roundRect">
            <a:avLst/>
          </a:prstGeom>
          <a:solidFill>
            <a:srgbClr val="24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712463"/>
            <a:ext cx="54864" cy="329184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68503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Fertigation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3685032"/>
            <a:ext cx="7132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8F"/>
                </a:solidFill>
                <a:latin typeface="Calibri"/>
              </a:defRPr>
            </a:pPr>
            <a:r>
              <a:t>Fertiliser-through-drip records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206240"/>
            <a:ext cx="10515600" cy="475488"/>
          </a:xfrm>
          <a:prstGeom prst="roundRect">
            <a:avLst/>
          </a:prstGeom>
          <a:solidFill>
            <a:srgbClr val="24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4279392"/>
            <a:ext cx="54864" cy="329184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251959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Pest &amp; Disease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4251959"/>
            <a:ext cx="7132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8F"/>
                </a:solidFill>
                <a:latin typeface="Calibri"/>
              </a:defRPr>
            </a:pPr>
            <a:r>
              <a:t>Spray/chemical application log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773168"/>
            <a:ext cx="10515600" cy="475488"/>
          </a:xfrm>
          <a:prstGeom prst="roundRect">
            <a:avLst/>
          </a:prstGeom>
          <a:solidFill>
            <a:srgbClr val="24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4846320"/>
            <a:ext cx="54864" cy="329184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481888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Labour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4818888"/>
            <a:ext cx="7132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8F"/>
                </a:solidFill>
                <a:latin typeface="Calibri"/>
              </a:defRPr>
            </a:pPr>
            <a:r>
              <a:t>Worker attendance, assignments, payments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340096"/>
            <a:ext cx="10515600" cy="475488"/>
          </a:xfrm>
          <a:prstGeom prst="roundRect">
            <a:avLst/>
          </a:prstGeom>
          <a:solidFill>
            <a:srgbClr val="24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1520" y="5413248"/>
            <a:ext cx="54864" cy="329184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538581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Weigh Scale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0" y="5385816"/>
            <a:ext cx="7132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8F"/>
                </a:solidFill>
                <a:latin typeface="Calibri"/>
              </a:defRPr>
            </a:pPr>
            <a:r>
              <a:t>Field weight measurements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5907024"/>
            <a:ext cx="10515600" cy="475488"/>
          </a:xfrm>
          <a:prstGeom prst="roundRect">
            <a:avLst/>
          </a:prstGeom>
          <a:solidFill>
            <a:srgbClr val="24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5980176"/>
            <a:ext cx="54864" cy="329184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952744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Projects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0" y="5952744"/>
            <a:ext cx="7132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8F"/>
                </a:solidFill>
                <a:latin typeface="Calibri"/>
              </a:defRPr>
            </a:pPr>
            <a:r>
              <a:t>Internal projects with tasks and worker assignment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B8E23"/>
                </a:solidFill>
                <a:latin typeface="Calibri"/>
              </a:defRPr>
            </a:pPr>
            <a:r>
              <a:t>📦  Post-Harvest  &amp;  💰 Commercial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5486400" cy="36576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FB83A"/>
                </a:solidFill>
                <a:latin typeface="Calibri"/>
              </a:defRPr>
            </a:pPr>
            <a:r>
              <a:t>Post-Harvest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029200" cy="411480"/>
          </a:xfrm>
          <a:prstGeom prst="roundRect">
            <a:avLst/>
          </a:prstGeom>
          <a:solidFill>
            <a:srgbClr val="24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6479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Inventory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76479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8F"/>
                </a:solidFill>
                <a:latin typeface="Calibri"/>
              </a:defRPr>
            </a:pPr>
            <a:r>
              <a:t>Stock tracking with transactions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5029200" cy="411480"/>
          </a:xfrm>
          <a:prstGeom prst="roundRect">
            <a:avLst/>
          </a:prstGeom>
          <a:solidFill>
            <a:srgbClr val="24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6771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Procurement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26771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8F"/>
                </a:solidFill>
                <a:latin typeface="Calibri"/>
              </a:defRPr>
            </a:pPr>
            <a:r>
              <a:t>Purchase requests with line items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743200"/>
            <a:ext cx="5029200" cy="411480"/>
          </a:xfrm>
          <a:prstGeom prst="roundRect">
            <a:avLst/>
          </a:prstGeom>
          <a:solidFill>
            <a:srgbClr val="24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77063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Harvest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7706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8F"/>
                </a:solidFill>
                <a:latin typeface="Calibri"/>
              </a:defRPr>
            </a:pPr>
            <a:r>
              <a:t>Harvest batch recording with by-products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46120"/>
            <a:ext cx="5029200" cy="411480"/>
          </a:xfrm>
          <a:prstGeom prst="roundRect">
            <a:avLst/>
          </a:prstGeom>
          <a:solidFill>
            <a:srgbClr val="24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273551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Packhouse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273551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8F"/>
                </a:solidFill>
                <a:latin typeface="Calibri"/>
              </a:defRPr>
            </a:pPr>
            <a:r>
              <a:t>Grading, packing, and traceability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49039"/>
            <a:ext cx="5029200" cy="411480"/>
          </a:xfrm>
          <a:prstGeom prst="roundRect">
            <a:avLst/>
          </a:prstGeom>
          <a:solidFill>
            <a:srgbClr val="24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7647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77647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8F"/>
                </a:solidFill>
                <a:latin typeface="Calibri"/>
              </a:defRPr>
            </a:pPr>
            <a:r>
              <a:t>Quality inspection records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FB83A"/>
                </a:solidFill>
                <a:latin typeface="Calibri"/>
              </a:defRPr>
            </a:pPr>
            <a:r>
              <a:t>Commercial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737360"/>
            <a:ext cx="5029200" cy="411480"/>
          </a:xfrm>
          <a:prstGeom prst="roundRect">
            <a:avLst/>
          </a:prstGeom>
          <a:solidFill>
            <a:srgbClr val="24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176479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Sales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176479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8F"/>
                </a:solidFill>
                <a:latin typeface="Calibri"/>
              </a:defRPr>
            </a:pPr>
            <a:r>
              <a:t>Customer management, order processing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2240280"/>
            <a:ext cx="5029200" cy="411480"/>
          </a:xfrm>
          <a:prstGeom prst="roundRect">
            <a:avLst/>
          </a:prstGeom>
          <a:solidFill>
            <a:srgbClr val="24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226771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Outgrowers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26771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8F"/>
                </a:solidFill>
                <a:latin typeface="Calibri"/>
              </a:defRPr>
            </a:pPr>
            <a:r>
              <a:t>External supplier/grower relationships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2743200"/>
            <a:ext cx="5029200" cy="411480"/>
          </a:xfrm>
          <a:prstGeom prst="roundRect">
            <a:avLst/>
          </a:prstGeom>
          <a:solidFill>
            <a:srgbClr val="24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277063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Logistics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27706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8F"/>
                </a:solidFill>
                <a:latin typeface="Calibri"/>
              </a:defRPr>
            </a:pPr>
            <a:r>
              <a:t>Shipment/dispatch tracking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3246120"/>
            <a:ext cx="5029200" cy="411480"/>
          </a:xfrm>
          <a:prstGeom prst="roundRect">
            <a:avLst/>
          </a:prstGeom>
          <a:solidFill>
            <a:srgbClr val="24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3273551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Finance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3273551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8F"/>
                </a:solidFill>
                <a:latin typeface="Calibri"/>
              </a:defRPr>
            </a:pPr>
            <a:r>
              <a:t>Cost tracking, budget vs actual, M-Pesa, ledger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572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FB83A"/>
                </a:solidFill>
                <a:latin typeface="Calibri"/>
              </a:defRPr>
            </a:pPr>
            <a:r>
              <a:t>🐴  Stables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5029200"/>
            <a:ext cx="10515600" cy="411480"/>
          </a:xfrm>
          <a:prstGeom prst="roundRect">
            <a:avLst/>
          </a:prstGeom>
          <a:solidFill>
            <a:srgbClr val="24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05663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6DECC"/>
                </a:solidFill>
                <a:latin typeface="Calibri"/>
              </a:defRPr>
            </a:pPr>
            <a:r>
              <a:t>Horse Rides  •  Horse Management  •  Guide Roster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B8E23"/>
                </a:solidFill>
                <a:latin typeface="Calibri"/>
              </a:defRPr>
            </a:pPr>
            <a:r>
              <a:t>Roles &amp; Access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3657600" cy="36576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515600" cy="365760"/>
          </a:xfrm>
          <a:prstGeom prst="roundRect">
            <a:avLst/>
          </a:prstGeom>
          <a:solidFill>
            <a:srgbClr val="24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54864" cy="274320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298448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FB83A"/>
                </a:solidFill>
                <a:latin typeface="Calibri"/>
              </a:defRPr>
            </a:pPr>
            <a:r>
              <a:t>Owner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298448"/>
            <a:ext cx="6858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6DECC"/>
                </a:solidFill>
                <a:latin typeface="Calibri"/>
              </a:defRPr>
            </a:pPr>
            <a:r>
              <a:t>Super-admin — access to everything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19072"/>
            <a:ext cx="10515600" cy="365760"/>
          </a:xfrm>
          <a:prstGeom prst="roundRect">
            <a:avLst/>
          </a:prstGeom>
          <a:solidFill>
            <a:srgbClr val="24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64792"/>
            <a:ext cx="54864" cy="274320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737360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FB83A"/>
                </a:solidFill>
                <a:latin typeface="Calibri"/>
              </a:defRPr>
            </a:pPr>
            <a:r>
              <a:t>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1737360"/>
            <a:ext cx="6858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6DECC"/>
                </a:solidFill>
                <a:latin typeface="Calibri"/>
              </a:defRPr>
            </a:pPr>
            <a:r>
              <a:t>Finance, analytics, AI, crop cycles, WhatsApp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157984"/>
            <a:ext cx="10515600" cy="365760"/>
          </a:xfrm>
          <a:prstGeom prst="roundRect">
            <a:avLst/>
          </a:prstGeom>
          <a:solidFill>
            <a:srgbClr val="24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203703"/>
            <a:ext cx="54864" cy="274320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176272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FB83A"/>
                </a:solidFill>
                <a:latin typeface="Calibri"/>
              </a:defRPr>
            </a:pPr>
            <a:r>
              <a:t>Horticulture Manager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176272"/>
            <a:ext cx="6858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6DECC"/>
                </a:solidFill>
                <a:latin typeface="Calibri"/>
              </a:defRPr>
            </a:pPr>
            <a:r>
              <a:t>Broad access — all field/post-harvest ops, admin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596896"/>
            <a:ext cx="10515600" cy="365760"/>
          </a:xfrm>
          <a:prstGeom prst="roundRect">
            <a:avLst/>
          </a:prstGeom>
          <a:solidFill>
            <a:srgbClr val="24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2642615"/>
            <a:ext cx="54864" cy="274320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2615184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FB83A"/>
                </a:solidFill>
                <a:latin typeface="Calibri"/>
              </a:defRPr>
            </a:pPr>
            <a:r>
              <a:t>Agronomist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2615184"/>
            <a:ext cx="6858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6DECC"/>
                </a:solidFill>
                <a:latin typeface="Calibri"/>
              </a:defRPr>
            </a:pPr>
            <a:r>
              <a:t>Crops, nursery, daily ops, fertigation, pest &amp; disease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035808"/>
            <a:ext cx="10515600" cy="365760"/>
          </a:xfrm>
          <a:prstGeom prst="roundRect">
            <a:avLst/>
          </a:prstGeom>
          <a:solidFill>
            <a:srgbClr val="24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081527"/>
            <a:ext cx="54864" cy="274320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054096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FB83A"/>
                </a:solidFill>
                <a:latin typeface="Calibri"/>
              </a:defRPr>
            </a:pPr>
            <a:r>
              <a:t>Farm Supervisor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3054096"/>
            <a:ext cx="6858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6DECC"/>
                </a:solidFill>
                <a:latin typeface="Calibri"/>
              </a:defRPr>
            </a:pPr>
            <a:r>
              <a:t>Field ops — nursery, irrigation, labour, harvest, projects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474720"/>
            <a:ext cx="10515600" cy="365760"/>
          </a:xfrm>
          <a:prstGeom prst="roundRect">
            <a:avLst/>
          </a:prstGeom>
          <a:solidFill>
            <a:srgbClr val="24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3520439"/>
            <a:ext cx="54864" cy="274320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3493008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FB83A"/>
                </a:solidFill>
                <a:latin typeface="Calibri"/>
              </a:defRPr>
            </a:pPr>
            <a:r>
              <a:t>Finance Officer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3493008"/>
            <a:ext cx="6858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6DECC"/>
                </a:solidFill>
                <a:latin typeface="Calibri"/>
              </a:defRPr>
            </a:pPr>
            <a:r>
              <a:t>Finance, crop cycles, analytics, AI reports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3913631"/>
            <a:ext cx="10515600" cy="365760"/>
          </a:xfrm>
          <a:prstGeom prst="roundRect">
            <a:avLst/>
          </a:prstGeom>
          <a:solidFill>
            <a:srgbClr val="24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3959351"/>
            <a:ext cx="54864" cy="274320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3931919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FB83A"/>
                </a:solidFill>
                <a:latin typeface="Calibri"/>
              </a:defRPr>
            </a:pPr>
            <a:r>
              <a:t>Packhouse Supervisor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3931919"/>
            <a:ext cx="6858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6DECC"/>
                </a:solidFill>
                <a:latin typeface="Calibri"/>
              </a:defRPr>
            </a:pPr>
            <a:r>
              <a:t>Weighing, harvest, packhouse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4352544"/>
            <a:ext cx="10515600" cy="365760"/>
          </a:xfrm>
          <a:prstGeom prst="roundRect">
            <a:avLst/>
          </a:prstGeom>
          <a:solidFill>
            <a:srgbClr val="24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1520" y="4398264"/>
            <a:ext cx="54864" cy="274320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4370831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FB83A"/>
                </a:solidFill>
                <a:latin typeface="Calibri"/>
              </a:defRPr>
            </a:pPr>
            <a:r>
              <a:t>Storekeeper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4370831"/>
            <a:ext cx="6858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6DECC"/>
                </a:solidFill>
                <a:latin typeface="Calibri"/>
              </a:defRPr>
            </a:pPr>
            <a:r>
              <a:t>Inventory, checkouts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4791456"/>
            <a:ext cx="10515600" cy="365760"/>
          </a:xfrm>
          <a:prstGeom prst="roundRect">
            <a:avLst/>
          </a:prstGeom>
          <a:solidFill>
            <a:srgbClr val="24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4837176"/>
            <a:ext cx="54864" cy="274320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809744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FB83A"/>
                </a:solidFill>
                <a:latin typeface="Calibri"/>
              </a:defRPr>
            </a:pPr>
            <a:r>
              <a:t>Sales Officer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0" y="4809744"/>
            <a:ext cx="6858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6DECC"/>
                </a:solidFill>
                <a:latin typeface="Calibri"/>
              </a:defRPr>
            </a:pPr>
            <a:r>
              <a:t>Sales, logistics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5230368"/>
            <a:ext cx="10515600" cy="365760"/>
          </a:xfrm>
          <a:prstGeom prst="roundRect">
            <a:avLst/>
          </a:prstGeom>
          <a:solidFill>
            <a:srgbClr val="24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5276088"/>
            <a:ext cx="54864" cy="274320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5840" y="5248656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FB83A"/>
                </a:solidFill>
                <a:latin typeface="Calibri"/>
              </a:defRPr>
            </a:pPr>
            <a:r>
              <a:t>Quality Officer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0" y="5248656"/>
            <a:ext cx="6858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6DECC"/>
                </a:solidFill>
                <a:latin typeface="Calibri"/>
              </a:defRPr>
            </a:pPr>
            <a:r>
              <a:t>Quality checks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" y="5669279"/>
            <a:ext cx="10515600" cy="365760"/>
          </a:xfrm>
          <a:prstGeom prst="roundRect">
            <a:avLst/>
          </a:prstGeom>
          <a:solidFill>
            <a:srgbClr val="24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31520" y="5714999"/>
            <a:ext cx="54864" cy="274320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5840" y="5687567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FB83A"/>
                </a:solidFill>
                <a:latin typeface="Calibri"/>
              </a:defRPr>
            </a:pPr>
            <a:r>
              <a:t>Stable Manager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0" y="5687567"/>
            <a:ext cx="6858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6DECC"/>
                </a:solidFill>
                <a:latin typeface="Calibri"/>
              </a:defRPr>
            </a:pPr>
            <a:r>
              <a:t>Stables (horse rides, horses, guides)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31520" y="6108192"/>
            <a:ext cx="10515600" cy="365760"/>
          </a:xfrm>
          <a:prstGeom prst="roundRect">
            <a:avLst/>
          </a:prstGeom>
          <a:solidFill>
            <a:srgbClr val="24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31520" y="6153912"/>
            <a:ext cx="54864" cy="274320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6126479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FB83A"/>
                </a:solidFill>
                <a:latin typeface="Calibri"/>
              </a:defRPr>
            </a:pPr>
            <a:r>
              <a:t>Driver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14800" y="6126479"/>
            <a:ext cx="6858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6DECC"/>
                </a:solidFill>
                <a:latin typeface="Calibri"/>
              </a:defRPr>
            </a:pPr>
            <a:r>
              <a:t>Logistics only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B8E23"/>
                </a:solidFill>
                <a:latin typeface="Calibri"/>
              </a:defRPr>
            </a:pPr>
            <a:r>
              <a:t>Crop Lifecycle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3657600" cy="36576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1399032"/>
            <a:ext cx="365760" cy="365760"/>
          </a:xfrm>
          <a:prstGeom prst="ellipse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1078992" y="1783080"/>
            <a:ext cx="36576" cy="137160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13716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Farm → Block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37160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8F"/>
                </a:solidFill>
                <a:latin typeface="Calibri"/>
              </a:defRPr>
            </a:pPr>
            <a:r>
              <a:t>Define the physical growing area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1901951"/>
            <a:ext cx="365760" cy="365760"/>
          </a:xfrm>
          <a:prstGeom prst="ellipse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8992" y="2286000"/>
            <a:ext cx="36576" cy="137160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187451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Land Preparation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1874519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8F"/>
                </a:solidFill>
                <a:latin typeface="Calibri"/>
              </a:defRPr>
            </a:pPr>
            <a:r>
              <a:t>Checklist of tasks before planting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2404872"/>
            <a:ext cx="365760" cy="365760"/>
          </a:xfrm>
          <a:prstGeom prst="ellipse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78992" y="2788920"/>
            <a:ext cx="36576" cy="137160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23774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Crop Cycle (planned)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37744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8F"/>
                </a:solidFill>
                <a:latin typeface="Calibri"/>
              </a:defRPr>
            </a:pPr>
            <a:r>
              <a:t>Set budget, link to block &amp; crop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2907792"/>
            <a:ext cx="365760" cy="365760"/>
          </a:xfrm>
          <a:prstGeom prst="ellipse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78992" y="3291840"/>
            <a:ext cx="36576" cy="137160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54480" y="28803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Crop Cycle (active)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28803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8F"/>
                </a:solidFill>
                <a:latin typeface="Calibri"/>
              </a:defRPr>
            </a:pPr>
            <a:r>
              <a:t>Activate once prep is done &amp; budget set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3410712"/>
            <a:ext cx="365760" cy="365760"/>
          </a:xfrm>
          <a:prstGeom prst="ellipse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78992" y="3794760"/>
            <a:ext cx="36576" cy="137160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54480" y="33832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Planting Planner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338328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8F"/>
                </a:solidFill>
                <a:latin typeface="Calibri"/>
              </a:defRPr>
            </a:pPr>
            <a:r>
              <a:t>Dated task schedule from Day 0</a:t>
            </a:r>
          </a:p>
        </p:txBody>
      </p:sp>
      <p:sp>
        <p:nvSpPr>
          <p:cNvPr id="24" name="Oval 23"/>
          <p:cNvSpPr/>
          <p:nvPr/>
        </p:nvSpPr>
        <p:spPr>
          <a:xfrm>
            <a:off x="914400" y="3913632"/>
            <a:ext cx="365760" cy="365760"/>
          </a:xfrm>
          <a:prstGeom prst="ellipse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78992" y="4297680"/>
            <a:ext cx="36576" cy="137160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54480" y="38862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Field Operations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388620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8F"/>
                </a:solidFill>
                <a:latin typeface="Calibri"/>
              </a:defRPr>
            </a:pPr>
            <a:r>
              <a:t>Irrigation, spray, fertigation, labour</a:t>
            </a:r>
          </a:p>
        </p:txBody>
      </p:sp>
      <p:sp>
        <p:nvSpPr>
          <p:cNvPr id="28" name="Oval 27"/>
          <p:cNvSpPr/>
          <p:nvPr/>
        </p:nvSpPr>
        <p:spPr>
          <a:xfrm>
            <a:off x="914400" y="4416552"/>
            <a:ext cx="365760" cy="365760"/>
          </a:xfrm>
          <a:prstGeom prst="ellipse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78992" y="4800600"/>
            <a:ext cx="36576" cy="137160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54480" y="43891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Monitoring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43891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8F"/>
                </a:solidFill>
                <a:latin typeface="Calibri"/>
              </a:defRPr>
            </a:pPr>
            <a:r>
              <a:t>Germination checks, population counts</a:t>
            </a:r>
          </a:p>
        </p:txBody>
      </p:sp>
      <p:sp>
        <p:nvSpPr>
          <p:cNvPr id="32" name="Oval 31"/>
          <p:cNvSpPr/>
          <p:nvPr/>
        </p:nvSpPr>
        <p:spPr>
          <a:xfrm>
            <a:off x="914400" y="4919472"/>
            <a:ext cx="365760" cy="365760"/>
          </a:xfrm>
          <a:prstGeom prst="ellipse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78992" y="5303520"/>
            <a:ext cx="36576" cy="137160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54480" y="48920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Yield Projection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489204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8F"/>
                </a:solidFill>
                <a:latin typeface="Calibri"/>
              </a:defRPr>
            </a:pPr>
            <a:r>
              <a:t>Projected vs actual harvest</a:t>
            </a:r>
          </a:p>
        </p:txBody>
      </p:sp>
      <p:sp>
        <p:nvSpPr>
          <p:cNvPr id="36" name="Oval 35"/>
          <p:cNvSpPr/>
          <p:nvPr/>
        </p:nvSpPr>
        <p:spPr>
          <a:xfrm>
            <a:off x="914400" y="5422392"/>
            <a:ext cx="365760" cy="365760"/>
          </a:xfrm>
          <a:prstGeom prst="ellipse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78992" y="5806440"/>
            <a:ext cx="36576" cy="137160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554480" y="53949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Harvest → Packhouse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0" y="53949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8F"/>
                </a:solidFill>
                <a:latin typeface="Calibri"/>
              </a:defRPr>
            </a:pPr>
            <a:r>
              <a:t>Batch recording, grading, quality</a:t>
            </a:r>
          </a:p>
        </p:txBody>
      </p:sp>
      <p:sp>
        <p:nvSpPr>
          <p:cNvPr id="40" name="Oval 39"/>
          <p:cNvSpPr/>
          <p:nvPr/>
        </p:nvSpPr>
        <p:spPr>
          <a:xfrm>
            <a:off x="914400" y="5925312"/>
            <a:ext cx="365760" cy="365760"/>
          </a:xfrm>
          <a:prstGeom prst="ellipse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54480" y="58978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Sales → Dispatch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0" y="589788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8F"/>
                </a:solidFill>
                <a:latin typeface="Calibri"/>
              </a:defRPr>
            </a:pPr>
            <a:r>
              <a:t>Orders, logistics, finance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B8E23"/>
                </a:solidFill>
                <a:latin typeface="Calibri"/>
              </a:defRPr>
            </a:pPr>
            <a:r>
              <a:t>By the Numbers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3657600" cy="36576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645920"/>
            <a:ext cx="2926080" cy="1828800"/>
          </a:xfrm>
          <a:prstGeom prst="roundRect">
            <a:avLst/>
          </a:prstGeom>
          <a:solidFill>
            <a:srgbClr val="24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6B8E23"/>
                </a:solidFill>
                <a:latin typeface="Calibri"/>
              </a:defRPr>
            </a:pPr>
            <a:r>
              <a:t>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6DECC"/>
                </a:solidFill>
                <a:latin typeface="Calibri"/>
              </a:defRPr>
            </a:pPr>
            <a:r>
              <a:t>Eloquent Models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645920"/>
            <a:ext cx="2926080" cy="1828800"/>
          </a:xfrm>
          <a:prstGeom prst="roundRect">
            <a:avLst/>
          </a:prstGeom>
          <a:solidFill>
            <a:srgbClr val="24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92024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6B8E23"/>
                </a:solidFill>
                <a:latin typeface="Calibri"/>
              </a:defRPr>
            </a:pPr>
            <a:r>
              <a:t>48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74320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6DECC"/>
                </a:solidFill>
                <a:latin typeface="Calibri"/>
              </a:defRPr>
            </a:pPr>
            <a:r>
              <a:t>Controllers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19" y="1645920"/>
            <a:ext cx="2926080" cy="1828800"/>
          </a:xfrm>
          <a:prstGeom prst="roundRect">
            <a:avLst/>
          </a:prstGeom>
          <a:solidFill>
            <a:srgbClr val="24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9" y="192024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6B8E23"/>
                </a:solidFill>
                <a:latin typeface="Calibri"/>
              </a:defRPr>
            </a:pPr>
            <a:r>
              <a:t>~350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9" y="274320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6DECC"/>
                </a:solidFill>
                <a:latin typeface="Calibri"/>
              </a:defRPr>
            </a:pPr>
            <a:r>
              <a:t>Web Routes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3931920"/>
            <a:ext cx="2926080" cy="1828800"/>
          </a:xfrm>
          <a:prstGeom prst="roundRect">
            <a:avLst/>
          </a:prstGeom>
          <a:solidFill>
            <a:srgbClr val="24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20624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6B8E23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02920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6DECC"/>
                </a:solidFill>
                <a:latin typeface="Calibri"/>
              </a:defRPr>
            </a:pPr>
            <a:r>
              <a:t>User Roles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3931920"/>
            <a:ext cx="2926080" cy="1828800"/>
          </a:xfrm>
          <a:prstGeom prst="roundRect">
            <a:avLst/>
          </a:prstGeom>
          <a:solidFill>
            <a:srgbClr val="24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420624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6B8E23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502920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6DECC"/>
                </a:solidFill>
                <a:latin typeface="Calibri"/>
              </a:defRPr>
            </a:pPr>
            <a:r>
              <a:t>Module Groups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19" y="3931920"/>
            <a:ext cx="2926080" cy="1828800"/>
          </a:xfrm>
          <a:prstGeom prst="roundRect">
            <a:avLst/>
          </a:prstGeom>
          <a:solidFill>
            <a:srgbClr val="24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19" y="420624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6B8E23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9" y="502920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6DECC"/>
                </a:solidFill>
                <a:latin typeface="Calibri"/>
              </a:defRPr>
            </a:pPr>
            <a:r>
              <a:t>External PHP</a:t>
            </a:r>
            <a:br/>
            <a:r>
              <a:t>Dependencies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